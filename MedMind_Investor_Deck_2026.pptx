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F0EDE8"/>
                </a:solidFill>
                <a:latin typeface="Arial"/>
              </a:rPr>
              <a:t>Med</a:t>
            </a:r>
            <a:r>
              <a:rPr sz="6000" b="1">
                <a:solidFill>
                  <a:srgbClr val="E74C3C"/>
                </a:solidFill>
                <a:latin typeface="Arial"/>
              </a:rPr>
              <a:t>Mind</a:t>
            </a:r>
            <a:r>
              <a:rPr sz="3000" b="0">
                <a:solidFill>
                  <a:srgbClr val="7A7268"/>
                </a:solidFill>
                <a:latin typeface="Arial"/>
              </a:rPr>
              <a:t>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B8B0A4"/>
                </a:solidFill>
                <a:latin typeface="Arial"/>
              </a:rPr>
              <a:t>The Global AI Platform for Medical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20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7268"/>
                </a:solidFill>
                <a:latin typeface="Arial"/>
              </a:rPr>
              <a:t>Investor Presentation ·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760720"/>
            <a:ext cx="5029200" cy="548640"/>
          </a:xfrm>
          <a:prstGeom prst="rect">
            <a:avLst/>
          </a:prstGeom>
          <a:solidFill>
            <a:srgbClr val="2A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806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268"/>
                </a:solidFill>
                <a:latin typeface="Arial"/>
              </a:rPr>
              <a:t>Confidential — Not for distribution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0" y="1645920"/>
            <a:ext cx="2743200" cy="868680"/>
          </a:xfrm>
          <a:prstGeom prst="rect">
            <a:avLst/>
          </a:prstGeom>
          <a:solidFill>
            <a:srgbClr val="2A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0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74C3C"/>
                </a:solidFill>
                <a:latin typeface="Arial"/>
              </a:rPr>
              <a:t>$6.4B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20848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268"/>
                </a:solidFill>
                <a:latin typeface="Arial"/>
              </a:rPr>
              <a:t>Market size (2024)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2743200"/>
            <a:ext cx="2743200" cy="868680"/>
          </a:xfrm>
          <a:prstGeom prst="rect">
            <a:avLst/>
          </a:prstGeom>
          <a:solidFill>
            <a:srgbClr val="2A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27889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74C3C"/>
                </a:solidFill>
                <a:latin typeface="Arial"/>
              </a:rPr>
              <a:t>18%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31821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268"/>
                </a:solidFill>
                <a:latin typeface="Arial"/>
              </a:rPr>
              <a:t>Annual market growth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3840480"/>
            <a:ext cx="2743200" cy="868680"/>
          </a:xfrm>
          <a:prstGeom prst="rect">
            <a:avLst/>
          </a:prstGeom>
          <a:solidFill>
            <a:srgbClr val="2A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38862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74C3C"/>
                </a:solidFill>
                <a:latin typeface="Arial"/>
              </a:rPr>
              <a:t>12M+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427939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268"/>
                </a:solidFill>
                <a:latin typeface="Arial"/>
              </a:rPr>
              <a:t>Target clinicians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4937759"/>
            <a:ext cx="2743200" cy="868680"/>
          </a:xfrm>
          <a:prstGeom prst="rect">
            <a:avLst/>
          </a:prstGeom>
          <a:solidFill>
            <a:srgbClr val="2A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498347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74C3C"/>
                </a:solidFill>
                <a:latin typeface="Arial"/>
              </a:rPr>
              <a:t>82+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5376671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268"/>
                </a:solidFill>
                <a:latin typeface="Arial"/>
              </a:rPr>
              <a:t>Modules built today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EDE8"/>
                </a:solidFill>
                <a:latin typeface="Arial"/>
              </a:rPr>
              <a:t>Med</a:t>
            </a:r>
            <a:r>
              <a:rPr sz="1800" b="1">
                <a:solidFill>
                  <a:srgbClr val="E74C3C"/>
                </a:solidFill>
                <a:latin typeface="Arial"/>
              </a:rPr>
              <a:t>Mind</a:t>
            </a:r>
            <a:r>
              <a:rPr sz="1100" b="0">
                <a:solidFill>
                  <a:srgbClr val="7A7268"/>
                </a:solidFill>
                <a:latin typeface="Arial"/>
              </a:rPr>
              <a:t>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58368"/>
            <a:ext cx="11338560" cy="12700"/>
          </a:xfrm>
          <a:prstGeom prst="rect">
            <a:avLst/>
          </a:prstGeom>
          <a:solidFill>
            <a:srgbClr val="3D3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182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7268"/>
                </a:solidFill>
                <a:latin typeface="Arial"/>
              </a:rPr>
              <a:t>01 /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EDE8"/>
                </a:solidFill>
                <a:latin typeface="Arial"/>
              </a:rPr>
              <a:t>Medical education is broken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08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8B0A4"/>
                </a:solidFill>
                <a:latin typeface="Arial"/>
              </a:rPr>
              <a:t>Clinicians need to learn continuously — but the tools are fragmented, expensive, and outdated.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194560"/>
            <a:ext cx="3657600" cy="1554480"/>
          </a:xfrm>
          <a:prstGeom prst="rect">
            <a:avLst/>
          </a:prstGeom>
          <a:solidFill>
            <a:srgbClr val="2A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0EDE8"/>
                </a:solidFill>
                <a:latin typeface="Arial"/>
              </a:rPr>
              <a:t>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317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DE8"/>
                </a:solidFill>
                <a:latin typeface="Arial"/>
              </a:rPr>
              <a:t>Static textbooks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889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268"/>
                </a:solidFill>
                <a:latin typeface="Arial"/>
              </a:rPr>
              <a:t>Outdated the moment they're printed. No adaptation, no interactivity.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194560"/>
            <a:ext cx="3657600" cy="1554480"/>
          </a:xfrm>
          <a:prstGeom prst="rect">
            <a:avLst/>
          </a:prstGeom>
          <a:solidFill>
            <a:srgbClr val="2A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3317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0EDE8"/>
                </a:solidFill>
                <a:latin typeface="Arial"/>
              </a:rPr>
              <a:t>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23317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DE8"/>
                </a:solidFill>
                <a:latin typeface="Arial"/>
              </a:rPr>
              <a:t>Fragmented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7889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268"/>
                </a:solidFill>
                <a:latin typeface="Arial"/>
              </a:rPr>
              <a:t>Flashcard app + chatbot + PDF textbook + YouTube. No unified system.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5319" y="2194560"/>
            <a:ext cx="3657600" cy="1554480"/>
          </a:xfrm>
          <a:prstGeom prst="rect">
            <a:avLst/>
          </a:prstGeom>
          <a:solidFill>
            <a:srgbClr val="2A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199" y="23317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0EDE8"/>
                </a:solidFill>
                <a:latin typeface="Arial"/>
              </a:rPr>
              <a:t>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399" y="23317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DE8"/>
                </a:solidFill>
                <a:latin typeface="Arial"/>
              </a:rPr>
              <a:t>Prohibitive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199" y="27889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268"/>
                </a:solidFill>
                <a:latin typeface="Arial"/>
              </a:rPr>
              <a:t>Quality board prep courses cost $500–$2,000. Inaccessible to most.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023360"/>
            <a:ext cx="3657600" cy="1554480"/>
          </a:xfrm>
          <a:prstGeom prst="rect">
            <a:avLst/>
          </a:prstGeom>
          <a:solidFill>
            <a:srgbClr val="2A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1605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0EDE8"/>
                </a:solidFill>
                <a:latin typeface="Arial"/>
              </a:rPr>
              <a:t>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1605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DE8"/>
                </a:solidFill>
                <a:latin typeface="Arial"/>
              </a:rPr>
              <a:t>English-only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6177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268"/>
                </a:solidFill>
                <a:latin typeface="Arial"/>
              </a:rPr>
              <a:t>Best tools exclude 70%+ of global medical students.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4023360"/>
            <a:ext cx="3657600" cy="1554480"/>
          </a:xfrm>
          <a:prstGeom prst="rect">
            <a:avLst/>
          </a:prstGeom>
          <a:solidFill>
            <a:srgbClr val="2A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41605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0EDE8"/>
                </a:solidFill>
                <a:latin typeface="Arial"/>
              </a:rPr>
              <a:t>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41605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DE8"/>
                </a:solidFill>
                <a:latin typeface="Arial"/>
              </a:rPr>
              <a:t>Generic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46177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268"/>
                </a:solidFill>
                <a:latin typeface="Arial"/>
              </a:rPr>
              <a:t>ChatGPT lacks clinical structure, cites nothing, can't replace a curriculum.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EDE8"/>
                </a:solidFill>
                <a:latin typeface="Arial"/>
              </a:rPr>
              <a:t>Med</a:t>
            </a:r>
            <a:r>
              <a:rPr sz="1800" b="1">
                <a:solidFill>
                  <a:srgbClr val="E74C3C"/>
                </a:solidFill>
                <a:latin typeface="Arial"/>
              </a:rPr>
              <a:t>Mind</a:t>
            </a:r>
            <a:r>
              <a:rPr sz="1100" b="0">
                <a:solidFill>
                  <a:srgbClr val="7A7268"/>
                </a:solidFill>
                <a:latin typeface="Arial"/>
              </a:rPr>
              <a:t>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58368"/>
            <a:ext cx="11338560" cy="12700"/>
          </a:xfrm>
          <a:prstGeom prst="rect">
            <a:avLst/>
          </a:prstGeom>
          <a:solidFill>
            <a:srgbClr val="3D3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182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7268"/>
                </a:solidFill>
                <a:latin typeface="Arial"/>
              </a:rPr>
              <a:t>02 /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EDE8"/>
                </a:solidFill>
                <a:latin typeface="Arial"/>
              </a:rPr>
              <a:t>One complete AI-native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554480"/>
            <a:ext cx="3703320" cy="2011680"/>
          </a:xfrm>
          <a:prstGeom prst="rect">
            <a:avLst/>
          </a:prstGeom>
          <a:solidFill>
            <a:srgbClr val="2A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190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0EDE8"/>
                </a:solidFill>
                <a:latin typeface="Arial"/>
              </a:rPr>
              <a:t>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1907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DE8"/>
                </a:solidFill>
                <a:latin typeface="Arial"/>
              </a:rPr>
              <a:t>AI Medical Tutor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12848"/>
            <a:ext cx="3337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7268"/>
                </a:solidFill>
                <a:latin typeface="Arial"/>
              </a:rPr>
              <a:t>4 modes: Tutor · Socratic · Case-based · Exam Prep.
Every answer backed by live PubMed citations.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554480"/>
            <a:ext cx="3703320" cy="2011680"/>
          </a:xfrm>
          <a:prstGeom prst="rect">
            <a:avLst/>
          </a:prstGeom>
          <a:solidFill>
            <a:srgbClr val="2A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7190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0EDE8"/>
                </a:solidFill>
                <a:latin typeface="Arial"/>
              </a:rPr>
              <a:t>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71907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DE8"/>
                </a:solidFill>
                <a:latin typeface="Arial"/>
              </a:rPr>
              <a:t>Spaced Repetition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212848"/>
            <a:ext cx="3337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7268"/>
                </a:solidFill>
                <a:latin typeface="Arial"/>
              </a:rPr>
              <a:t>SM-2 algorithm — the same science as Anki.
500+ medical flashcards, auto-scheduled.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75319" y="1554480"/>
            <a:ext cx="3703320" cy="2011680"/>
          </a:xfrm>
          <a:prstGeom prst="rect">
            <a:avLst/>
          </a:prstGeom>
          <a:solidFill>
            <a:srgbClr val="2A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199" y="17190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0EDE8"/>
                </a:solidFill>
                <a:latin typeface="Arial"/>
              </a:rPr>
              <a:t>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19" y="171907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DE8"/>
                </a:solidFill>
                <a:latin typeface="Arial"/>
              </a:rPr>
              <a:t>Clinical Simulations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199" y="2212848"/>
            <a:ext cx="3337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7268"/>
                </a:solidFill>
                <a:latin typeface="Arial"/>
              </a:rPr>
              <a:t>Interactive patient cases: vitals, labs, differentials.
USMLE / MRCP exam formats.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794760"/>
            <a:ext cx="3703320" cy="2011680"/>
          </a:xfrm>
          <a:prstGeom prst="rect">
            <a:avLst/>
          </a:prstGeom>
          <a:solidFill>
            <a:srgbClr val="2A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5935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0EDE8"/>
                </a:solidFill>
                <a:latin typeface="Arial"/>
              </a:rPr>
              <a:t>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95935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DE8"/>
                </a:solidFill>
                <a:latin typeface="Arial"/>
              </a:rPr>
              <a:t>82+ Modules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453128"/>
            <a:ext cx="3337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7268"/>
                </a:solidFill>
                <a:latin typeface="Arial"/>
              </a:rPr>
              <a:t>Cardiology · Neurology · Surgery · Pediatrics · OB/GYN · Therapy.
Full structured curriculum.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3794760"/>
            <a:ext cx="3703320" cy="2011680"/>
          </a:xfrm>
          <a:prstGeom prst="rect">
            <a:avLst/>
          </a:prstGeom>
          <a:solidFill>
            <a:srgbClr val="2A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395935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0EDE8"/>
                </a:solidFill>
                <a:latin typeface="Arial"/>
              </a:rPr>
              <a:t>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95935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DE8"/>
                </a:solidFill>
                <a:latin typeface="Arial"/>
              </a:rPr>
              <a:t>7 Languages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453128"/>
            <a:ext cx="3337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7268"/>
                </a:solidFill>
                <a:latin typeface="Arial"/>
              </a:rPr>
              <a:t>English · Russian · German · French · Spanish · Turkish · Arabic.
Built-in from day one.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75319" y="3794760"/>
            <a:ext cx="3703320" cy="2011680"/>
          </a:xfrm>
          <a:prstGeom prst="rect">
            <a:avLst/>
          </a:prstGeom>
          <a:solidFill>
            <a:srgbClr val="2A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199" y="395935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0EDE8"/>
                </a:solidFill>
                <a:latin typeface="Arial"/>
              </a:rPr>
              <a:t>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19" y="395935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DE8"/>
                </a:solidFill>
                <a:latin typeface="Arial"/>
              </a:rPr>
              <a:t>Progress Analytics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199" y="4453128"/>
            <a:ext cx="3337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7268"/>
                </a:solidFill>
                <a:latin typeface="Arial"/>
              </a:rPr>
              <a:t>Streak calendar, retention scores, completion rates.
For students and institutional admins.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EDE8"/>
                </a:solidFill>
                <a:latin typeface="Arial"/>
              </a:rPr>
              <a:t>Med</a:t>
            </a:r>
            <a:r>
              <a:rPr sz="1800" b="1">
                <a:solidFill>
                  <a:srgbClr val="E74C3C"/>
                </a:solidFill>
                <a:latin typeface="Arial"/>
              </a:rPr>
              <a:t>Mind</a:t>
            </a:r>
            <a:r>
              <a:rPr sz="1100" b="0">
                <a:solidFill>
                  <a:srgbClr val="7A7268"/>
                </a:solidFill>
                <a:latin typeface="Arial"/>
              </a:rPr>
              <a:t>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58368"/>
            <a:ext cx="11338560" cy="12700"/>
          </a:xfrm>
          <a:prstGeom prst="rect">
            <a:avLst/>
          </a:prstGeom>
          <a:solidFill>
            <a:srgbClr val="3D3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182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7268"/>
                </a:solidFill>
                <a:latin typeface="Arial"/>
              </a:rPr>
              <a:t>03 /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EDE8"/>
                </a:solidFill>
                <a:latin typeface="Arial"/>
              </a:rPr>
              <a:t>A large, growing, underserved market</a:t>
            </a:r>
          </a:p>
        </p:txBody>
      </p:sp>
      <p:sp>
        <p:nvSpPr>
          <p:cNvPr id="6" name="Oval 5"/>
          <p:cNvSpPr/>
          <p:nvPr/>
        </p:nvSpPr>
        <p:spPr>
          <a:xfrm>
            <a:off x="1828800" y="2286000"/>
            <a:ext cx="3474720" cy="34747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6334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TAM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50215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$6.4B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440326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DDD8"/>
                </a:solidFill>
                <a:latin typeface="Arial"/>
              </a:rPr>
              <a:t>Global medical
e-learning market</a:t>
            </a:r>
          </a:p>
        </p:txBody>
      </p:sp>
      <p:sp>
        <p:nvSpPr>
          <p:cNvPr id="10" name="Oval 9"/>
          <p:cNvSpPr/>
          <p:nvPr/>
        </p:nvSpPr>
        <p:spPr>
          <a:xfrm>
            <a:off x="5303520" y="2286000"/>
            <a:ext cx="2926080" cy="2926080"/>
          </a:xfrm>
          <a:prstGeom prst="ellipse">
            <a:avLst/>
          </a:prstGeom>
          <a:solidFill>
            <a:srgbClr val="C0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57860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331012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$1.2B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410016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DDD8"/>
                </a:solidFill>
                <a:latin typeface="Arial"/>
              </a:rPr>
              <a:t>Digital-first students
&amp; residents globally</a:t>
            </a:r>
          </a:p>
        </p:txBody>
      </p:sp>
      <p:sp>
        <p:nvSpPr>
          <p:cNvPr id="14" name="Oval 13"/>
          <p:cNvSpPr/>
          <p:nvPr/>
        </p:nvSpPr>
        <p:spPr>
          <a:xfrm>
            <a:off x="8778240" y="2286000"/>
            <a:ext cx="2377440" cy="2377440"/>
          </a:xfrm>
          <a:prstGeom prst="ellipse">
            <a:avLst/>
          </a:prstGeom>
          <a:solidFill>
            <a:srgbClr val="B08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252374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3118104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$120M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376001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DDD8"/>
                </a:solidFill>
                <a:latin typeface="Arial"/>
              </a:rPr>
              <a:t>Year 5 addressable
with current product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5394960"/>
            <a:ext cx="2743200" cy="1051560"/>
          </a:xfrm>
          <a:prstGeom prst="rect">
            <a:avLst/>
          </a:prstGeom>
          <a:solidFill>
            <a:srgbClr val="2A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46811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74C3C"/>
                </a:solidFill>
                <a:latin typeface="Arial"/>
              </a:rPr>
              <a:t>~2M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436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268"/>
                </a:solidFill>
                <a:latin typeface="Arial"/>
              </a:rPr>
              <a:t>Medical students
globally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5394960"/>
            <a:ext cx="2743200" cy="1051560"/>
          </a:xfrm>
          <a:prstGeom prst="rect">
            <a:avLst/>
          </a:prstGeom>
          <a:solidFill>
            <a:srgbClr val="2A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546811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74C3C"/>
                </a:solidFill>
                <a:latin typeface="Arial"/>
              </a:rPr>
              <a:t>~10M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59436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268"/>
                </a:solidFill>
                <a:latin typeface="Arial"/>
              </a:rPr>
              <a:t>Practicing physicians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5394960"/>
            <a:ext cx="2743200" cy="1051560"/>
          </a:xfrm>
          <a:prstGeom prst="rect">
            <a:avLst/>
          </a:prstGeom>
          <a:solidFill>
            <a:srgbClr val="2A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546811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74C3C"/>
                </a:solidFill>
                <a:latin typeface="Arial"/>
              </a:rPr>
              <a:t>$299–$699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9436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268"/>
                </a:solidFill>
                <a:latin typeface="Arial"/>
              </a:rPr>
              <a:t>Annual study tool spend
per student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89720" y="5394960"/>
            <a:ext cx="2743200" cy="1051560"/>
          </a:xfrm>
          <a:prstGeom prst="rect">
            <a:avLst/>
          </a:prstGeom>
          <a:solidFill>
            <a:srgbClr val="2A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546811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74C3C"/>
                </a:solidFill>
                <a:latin typeface="Arial"/>
              </a:rPr>
              <a:t>18%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59436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268"/>
                </a:solidFill>
                <a:latin typeface="Arial"/>
              </a:rPr>
              <a:t>Market CAGR
(2024–2029)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EDE8"/>
                </a:solidFill>
                <a:latin typeface="Arial"/>
              </a:rPr>
              <a:t>Med</a:t>
            </a:r>
            <a:r>
              <a:rPr sz="1800" b="1">
                <a:solidFill>
                  <a:srgbClr val="E74C3C"/>
                </a:solidFill>
                <a:latin typeface="Arial"/>
              </a:rPr>
              <a:t>Mind</a:t>
            </a:r>
            <a:r>
              <a:rPr sz="1100" b="0">
                <a:solidFill>
                  <a:srgbClr val="7A7268"/>
                </a:solidFill>
                <a:latin typeface="Arial"/>
              </a:rPr>
              <a:t>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58368"/>
            <a:ext cx="11338560" cy="12700"/>
          </a:xfrm>
          <a:prstGeom prst="rect">
            <a:avLst/>
          </a:prstGeom>
          <a:solidFill>
            <a:srgbClr val="3D3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182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7268"/>
                </a:solidFill>
                <a:latin typeface="Arial"/>
              </a:rPr>
              <a:t>04 / 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EDE8"/>
                </a:solidFill>
                <a:latin typeface="Arial"/>
              </a:rPr>
              <a:t>Platform built. Ready to deploy.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63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7268"/>
                </a:solidFill>
                <a:latin typeface="Arial"/>
              </a:rPr>
              <a:t>Not a pitch deck — a working product.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920240"/>
            <a:ext cx="5486400" cy="4480560"/>
          </a:xfrm>
          <a:prstGeom prst="rect">
            <a:avLst/>
          </a:prstGeom>
          <a:solidFill>
            <a:srgbClr val="2A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Arial"/>
              </a:rPr>
              <a:t>✅  Already 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B0A4"/>
                </a:solidFill>
                <a:latin typeface="Arial"/>
              </a:rPr>
              <a:t>✓  82+ clinical modules across 6 specialties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07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B0A4"/>
                </a:solidFill>
                <a:latin typeface="Arial"/>
              </a:rPr>
              <a:t>✓  Full AI tutor — 4 learning modes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912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B0A4"/>
                </a:solidFill>
                <a:latin typeface="Arial"/>
              </a:rPr>
              <a:t>✓  Spaced-repetition flashcard engine (SM-2)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7530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B0A4"/>
                </a:solidFill>
                <a:latin typeface="Arial"/>
              </a:rPr>
              <a:t>✓  Clinical case simulation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593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B0A4"/>
                </a:solidFill>
                <a:latin typeface="Arial"/>
              </a:rPr>
              <a:t>✓  7-language localisation (en/ru/de/fr/es/tr/ar)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434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B0A4"/>
                </a:solidFill>
                <a:latin typeface="Arial"/>
              </a:rPr>
              <a:t>✓  SEO article generation engine (Claude AI)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72744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B0A4"/>
                </a:solidFill>
                <a:latin typeface="Arial"/>
              </a:rPr>
              <a:t>✓  Article-to-video pipeline (YouTube-ready)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1149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B0A4"/>
                </a:solidFill>
                <a:latin typeface="Arial"/>
              </a:rPr>
              <a:t>✓  B2B Clinic tier with team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49554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B0A4"/>
                </a:solidFill>
                <a:latin typeface="Arial"/>
              </a:rPr>
              <a:t>✓  Admin panel &amp; content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87959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B0A4"/>
                </a:solidFill>
                <a:latin typeface="Arial"/>
              </a:rPr>
              <a:t>✓  Full authentication + role system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920240"/>
            <a:ext cx="5486400" cy="4480560"/>
          </a:xfrm>
          <a:prstGeom prst="rect">
            <a:avLst/>
          </a:prstGeom>
          <a:solidFill>
            <a:srgbClr val="2A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0116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030"/>
                </a:solidFill>
                <a:latin typeface="Arial"/>
              </a:rPr>
              <a:t>◎  Next milestones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4231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B0A4"/>
                </a:solidFill>
                <a:latin typeface="Arial"/>
              </a:rPr>
              <a:t>→  Production server deployment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807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B0A4"/>
                </a:solidFill>
                <a:latin typeface="Arial"/>
              </a:rPr>
              <a:t>→  SEO content campaign (500+ articles)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1912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B0A4"/>
                </a:solidFill>
                <a:latin typeface="Arial"/>
              </a:rPr>
              <a:t>→  YouTube medical channel launch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57530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B0A4"/>
                </a:solidFill>
                <a:latin typeface="Arial"/>
              </a:rPr>
              <a:t>→  First 100 paying subscribers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9593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B0A4"/>
                </a:solidFill>
                <a:latin typeface="Arial"/>
              </a:rPr>
              <a:t>→  University pilot program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3434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B0A4"/>
                </a:solidFill>
                <a:latin typeface="Arial"/>
              </a:rPr>
              <a:t>→  Series A fundraise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EDE8"/>
                </a:solidFill>
                <a:latin typeface="Arial"/>
              </a:rPr>
              <a:t>Med</a:t>
            </a:r>
            <a:r>
              <a:rPr sz="1800" b="1">
                <a:solidFill>
                  <a:srgbClr val="E74C3C"/>
                </a:solidFill>
                <a:latin typeface="Arial"/>
              </a:rPr>
              <a:t>Mind</a:t>
            </a:r>
            <a:r>
              <a:rPr sz="1100" b="0">
                <a:solidFill>
                  <a:srgbClr val="7A7268"/>
                </a:solidFill>
                <a:latin typeface="Arial"/>
              </a:rPr>
              <a:t>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58368"/>
            <a:ext cx="11338560" cy="12700"/>
          </a:xfrm>
          <a:prstGeom prst="rect">
            <a:avLst/>
          </a:prstGeom>
          <a:solidFill>
            <a:srgbClr val="3D3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182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7268"/>
                </a:solidFill>
                <a:latin typeface="Arial"/>
              </a:rPr>
              <a:t>05 / 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EDE8"/>
                </a:solidFill>
                <a:latin typeface="Arial"/>
              </a:rPr>
              <a:t>Three revenue streams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554480"/>
            <a:ext cx="3703320" cy="4983480"/>
          </a:xfrm>
          <a:prstGeom prst="rect">
            <a:avLst/>
          </a:prstGeom>
          <a:solidFill>
            <a:srgbClr val="2A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554480"/>
            <a:ext cx="3703320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459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EDE8"/>
                </a:solidFill>
                <a:latin typeface="Arial"/>
              </a:rPr>
              <a:t>💳  B2C Subscriptions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3383280" cy="82296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240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EDE8"/>
                </a:solidFill>
                <a:latin typeface="Arial"/>
              </a:rPr>
              <a:t>Free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06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Arial"/>
              </a:rPr>
              <a:t>$0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26060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268"/>
                </a:solidFill>
                <a:latin typeface="Arial"/>
              </a:rPr>
              <a:t>8 modules · 5 AI Q/day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154680"/>
            <a:ext cx="3383280" cy="82296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EDE8"/>
                </a:solidFill>
                <a:latin typeface="Arial"/>
              </a:rPr>
              <a:t>Student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66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Arial"/>
              </a:rPr>
              <a:t>$15/mo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35661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268"/>
                </a:solidFill>
                <a:latin typeface="Arial"/>
              </a:rPr>
              <a:t>82+ modules · 50 AI Q/day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14800"/>
            <a:ext cx="3383280" cy="82296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160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EDE8"/>
                </a:solidFill>
                <a:latin typeface="Arial"/>
              </a:rPr>
              <a:t>Pro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5262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Arial"/>
              </a:rPr>
              <a:t>$40/mo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45262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268"/>
                </a:solidFill>
                <a:latin typeface="Arial"/>
              </a:rPr>
              <a:t>Unlimited AI · Drug DB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074920"/>
            <a:ext cx="3383280" cy="82296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120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EDE8"/>
                </a:solidFill>
                <a:latin typeface="Arial"/>
              </a:rPr>
              <a:t>Lifetime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486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Arial"/>
              </a:rPr>
              <a:t>$299 once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268"/>
                </a:solidFill>
                <a:latin typeface="Arial"/>
              </a:rPr>
              <a:t>All future content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9893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A7268"/>
                </a:solidFill>
                <a:latin typeface="Arial"/>
              </a:rPr>
              <a:t>Primary engine. High LTV, low CAC via SEO.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1554480"/>
            <a:ext cx="3703320" cy="4983480"/>
          </a:xfrm>
          <a:prstGeom prst="rect">
            <a:avLst/>
          </a:prstGeom>
          <a:solidFill>
            <a:srgbClr val="2A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1554480"/>
            <a:ext cx="3703320" cy="6400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16459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EDE8"/>
                </a:solidFill>
                <a:latin typeface="Arial"/>
              </a:rPr>
              <a:t>🏫  B2B Institutional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60" y="2194560"/>
            <a:ext cx="3383280" cy="82296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20" y="2240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EDE8"/>
                </a:solidFill>
                <a:latin typeface="Arial"/>
              </a:rPr>
              <a:t>Clinic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2606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980B9"/>
                </a:solidFill>
                <a:latin typeface="Arial"/>
              </a:rPr>
              <a:t>$199/mo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26060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268"/>
                </a:solidFill>
                <a:latin typeface="Arial"/>
              </a:rPr>
              <a:t>Up to 10 seats + analytics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80560" y="3154680"/>
            <a:ext cx="3383280" cy="82296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1772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EDE8"/>
                </a:solidFill>
                <a:latin typeface="Arial"/>
              </a:rPr>
              <a:t>Enterprise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3566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980B9"/>
                </a:solidFill>
                <a:latin typeface="Arial"/>
              </a:rPr>
              <a:t>Custom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35661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268"/>
                </a:solidFill>
                <a:latin typeface="Arial"/>
              </a:rPr>
              <a:t>Medical schools &amp; hospitals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280" y="59893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A7268"/>
                </a:solidFill>
                <a:latin typeface="Arial"/>
              </a:rPr>
              <a:t>Sticky annual contracts. 1 school = 200–500 seats.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75319" y="1554480"/>
            <a:ext cx="3703320" cy="4983480"/>
          </a:xfrm>
          <a:prstGeom prst="rect">
            <a:avLst/>
          </a:prstGeom>
          <a:solidFill>
            <a:srgbClr val="2A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75319" y="1554480"/>
            <a:ext cx="3703320" cy="64008"/>
          </a:xfrm>
          <a:prstGeom prst="rect">
            <a:avLst/>
          </a:prstGeom>
          <a:solidFill>
            <a:srgbClr val="D4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58199" y="16459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EDE8"/>
                </a:solidFill>
                <a:latin typeface="Arial"/>
              </a:rPr>
              <a:t>📄  Content &amp; Licensing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12479" y="2194560"/>
            <a:ext cx="3383280" cy="82296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49639" y="2240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EDE8"/>
                </a:solidFill>
                <a:latin typeface="Arial"/>
              </a:rPr>
              <a:t>SEO Articles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49639" y="2606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030"/>
                </a:solidFill>
                <a:latin typeface="Arial"/>
              </a:rPr>
              <a:t>Ad/affiliate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12679" y="26060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268"/>
                </a:solidFill>
                <a:latin typeface="Arial"/>
              </a:rPr>
              <a:t>500+ indexed medical articles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12479" y="3154680"/>
            <a:ext cx="3383280" cy="82296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49639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EDE8"/>
                </a:solidFill>
                <a:latin typeface="Arial"/>
              </a:rPr>
              <a:t>YouTube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49639" y="3566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030"/>
                </a:solidFill>
                <a:latin typeface="Arial"/>
              </a:rPr>
              <a:t>Ad revenue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12679" y="35661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268"/>
                </a:solidFill>
                <a:latin typeface="Arial"/>
              </a:rPr>
              <a:t>AI-generated multilingual videos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12479" y="4114800"/>
            <a:ext cx="3383280" cy="82296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49639" y="4160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EDE8"/>
                </a:solidFill>
                <a:latin typeface="Arial"/>
              </a:rPr>
              <a:t>API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49639" y="45262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030"/>
                </a:solidFill>
                <a:latin typeface="Arial"/>
              </a:rPr>
              <a:t>Usage-based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12679" y="45262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268"/>
                </a:solidFill>
                <a:latin typeface="Arial"/>
              </a:rPr>
              <a:t>Medical AI Q&amp;A for EHR/health-tech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58199" y="59893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A7268"/>
                </a:solidFill>
                <a:latin typeface="Arial"/>
              </a:rPr>
              <a:t>Long-term diversification beyond subscriptions.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EDE8"/>
                </a:solidFill>
                <a:latin typeface="Arial"/>
              </a:rPr>
              <a:t>Med</a:t>
            </a:r>
            <a:r>
              <a:rPr sz="1800" b="1">
                <a:solidFill>
                  <a:srgbClr val="E74C3C"/>
                </a:solidFill>
                <a:latin typeface="Arial"/>
              </a:rPr>
              <a:t>Mind</a:t>
            </a:r>
            <a:r>
              <a:rPr sz="1100" b="0">
                <a:solidFill>
                  <a:srgbClr val="7A7268"/>
                </a:solidFill>
                <a:latin typeface="Arial"/>
              </a:rPr>
              <a:t>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58368"/>
            <a:ext cx="11338560" cy="12700"/>
          </a:xfrm>
          <a:prstGeom prst="rect">
            <a:avLst/>
          </a:prstGeom>
          <a:solidFill>
            <a:srgbClr val="3D3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182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7268"/>
                </a:solidFill>
                <a:latin typeface="Arial"/>
              </a:rPr>
              <a:t>06 / Unit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EDE8"/>
                </a:solidFill>
                <a:latin typeface="Arial"/>
              </a:rPr>
              <a:t>Strong LTV / CAC dynamics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91640"/>
            <a:ext cx="2743200" cy="1828800"/>
          </a:xfrm>
          <a:prstGeom prst="rect">
            <a:avLst/>
          </a:prstGeom>
          <a:solidFill>
            <a:srgbClr val="2A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691640"/>
            <a:ext cx="274320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7AE60"/>
                </a:solidFill>
                <a:latin typeface="Arial"/>
              </a:rPr>
              <a:t>$360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048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EDE8"/>
                </a:solidFill>
                <a:latin typeface="Arial"/>
              </a:rPr>
              <a:t>Student LTV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346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268"/>
                </a:solidFill>
                <a:latin typeface="Arial"/>
              </a:rPr>
              <a:t>24 mo avg retention @ $15/mo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55848" y="1691640"/>
            <a:ext cx="2743200" cy="1828800"/>
          </a:xfrm>
          <a:prstGeom prst="rect">
            <a:avLst/>
          </a:prstGeom>
          <a:solidFill>
            <a:srgbClr val="2A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55848" y="1691640"/>
            <a:ext cx="274320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38728" y="18288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7AE60"/>
                </a:solidFill>
                <a:latin typeface="Arial"/>
              </a:rPr>
              <a:t>$720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24048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EDE8"/>
                </a:solidFill>
                <a:latin typeface="Arial"/>
              </a:rPr>
              <a:t>Pro LTV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8" y="28346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268"/>
                </a:solidFill>
                <a:latin typeface="Arial"/>
              </a:rPr>
              <a:t>18 mo avg retention @ $40/mo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216" y="1691640"/>
            <a:ext cx="2743200" cy="1828800"/>
          </a:xfrm>
          <a:prstGeom prst="rect">
            <a:avLst/>
          </a:prstGeom>
          <a:solidFill>
            <a:srgbClr val="2A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0216" y="1691640"/>
            <a:ext cx="274320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3096" y="18288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7AE60"/>
                </a:solidFill>
                <a:latin typeface="Arial"/>
              </a:rPr>
              <a:t>$2,388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4048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EDE8"/>
                </a:solidFill>
                <a:latin typeface="Arial"/>
              </a:rPr>
              <a:t>Clinic LTV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3096" y="28346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268"/>
                </a:solidFill>
                <a:latin typeface="Arial"/>
              </a:rPr>
              <a:t>12 mo avg contract @ $199/mo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44584" y="1691640"/>
            <a:ext cx="2743200" cy="1828800"/>
          </a:xfrm>
          <a:prstGeom prst="rect">
            <a:avLst/>
          </a:prstGeom>
          <a:solidFill>
            <a:srgbClr val="2A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44584" y="1691640"/>
            <a:ext cx="274320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27464" y="18288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7AE60"/>
                </a:solidFill>
                <a:latin typeface="Arial"/>
              </a:rPr>
              <a:t>$299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27464" y="24048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EDE8"/>
                </a:solidFill>
                <a:latin typeface="Arial"/>
              </a:rPr>
              <a:t>Lifetime order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27464" y="28346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268"/>
                </a:solidFill>
                <a:latin typeface="Arial"/>
              </a:rPr>
              <a:t>One-time, full margin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3794760"/>
            <a:ext cx="2743200" cy="1828800"/>
          </a:xfrm>
          <a:prstGeom prst="rect">
            <a:avLst/>
          </a:prstGeom>
          <a:solidFill>
            <a:srgbClr val="2A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3794760"/>
            <a:ext cx="2743200" cy="5486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9319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980B9"/>
                </a:solidFill>
                <a:latin typeface="Arial"/>
              </a:rPr>
              <a:t>&lt; $10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50799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EDE8"/>
                </a:solidFill>
                <a:latin typeface="Arial"/>
              </a:rPr>
              <a:t>CAC — SEO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4937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268"/>
                </a:solidFill>
                <a:latin typeface="Arial"/>
              </a:rPr>
              <a:t>Organic-first content strategy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55848" y="3794760"/>
            <a:ext cx="2743200" cy="1828800"/>
          </a:xfrm>
          <a:prstGeom prst="rect">
            <a:avLst/>
          </a:prstGeom>
          <a:solidFill>
            <a:srgbClr val="2A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55848" y="3794760"/>
            <a:ext cx="2743200" cy="5486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38728" y="39319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980B9"/>
                </a:solidFill>
                <a:latin typeface="Arial"/>
              </a:rPr>
              <a:t>&lt; $30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38728" y="450799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EDE8"/>
                </a:solidFill>
                <a:latin typeface="Arial"/>
              </a:rPr>
              <a:t>CAC — Paid social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38728" y="4937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268"/>
                </a:solidFill>
                <a:latin typeface="Arial"/>
              </a:rPr>
              <a:t>Target blended CAC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0216" y="3794760"/>
            <a:ext cx="2743200" cy="1828800"/>
          </a:xfrm>
          <a:prstGeom prst="rect">
            <a:avLst/>
          </a:prstGeom>
          <a:solidFill>
            <a:srgbClr val="2A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0216" y="3794760"/>
            <a:ext cx="2743200" cy="54864"/>
          </a:xfrm>
          <a:prstGeom prst="rect">
            <a:avLst/>
          </a:prstGeom>
          <a:solidFill>
            <a:srgbClr val="D4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83096" y="39319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4A030"/>
                </a:solidFill>
                <a:latin typeface="Arial"/>
              </a:rPr>
              <a:t>~85%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83096" y="450799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EDE8"/>
                </a:solidFill>
                <a:latin typeface="Arial"/>
              </a:rPr>
              <a:t>Gross margin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83096" y="4937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268"/>
                </a:solidFill>
                <a:latin typeface="Arial"/>
              </a:rPr>
              <a:t>SaaS software margin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44584" y="3794760"/>
            <a:ext cx="2743200" cy="1828800"/>
          </a:xfrm>
          <a:prstGeom prst="rect">
            <a:avLst/>
          </a:prstGeom>
          <a:solidFill>
            <a:srgbClr val="2A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244584" y="3794760"/>
            <a:ext cx="2743200" cy="54864"/>
          </a:xfrm>
          <a:prstGeom prst="rect">
            <a:avLst/>
          </a:prstGeom>
          <a:solidFill>
            <a:srgbClr val="D4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27464" y="39319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4A030"/>
                </a:solidFill>
                <a:latin typeface="Arial"/>
              </a:rPr>
              <a:t>&lt; 1 mo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27464" y="450799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EDE8"/>
                </a:solidFill>
                <a:latin typeface="Arial"/>
              </a:rPr>
              <a:t>Payback period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27464" y="4937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268"/>
                </a:solidFill>
                <a:latin typeface="Arial"/>
              </a:rPr>
              <a:t>Student plan @ $10 CAC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EDE8"/>
                </a:solidFill>
                <a:latin typeface="Arial"/>
              </a:rPr>
              <a:t>Med</a:t>
            </a:r>
            <a:r>
              <a:rPr sz="1800" b="1">
                <a:solidFill>
                  <a:srgbClr val="E74C3C"/>
                </a:solidFill>
                <a:latin typeface="Arial"/>
              </a:rPr>
              <a:t>Mind</a:t>
            </a:r>
            <a:r>
              <a:rPr sz="1100" b="0">
                <a:solidFill>
                  <a:srgbClr val="7A7268"/>
                </a:solidFill>
                <a:latin typeface="Arial"/>
              </a:rPr>
              <a:t>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58368"/>
            <a:ext cx="11338560" cy="12700"/>
          </a:xfrm>
          <a:prstGeom prst="rect">
            <a:avLst/>
          </a:prstGeom>
          <a:solidFill>
            <a:srgbClr val="3D3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182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7268"/>
                </a:solidFill>
                <a:latin typeface="Arial"/>
              </a:rPr>
              <a:t>07 / Competitive Moat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EDE8"/>
                </a:solidFill>
                <a:latin typeface="Arial"/>
              </a:rPr>
              <a:t>Why MedMind wins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00200"/>
            <a:ext cx="3703320" cy="2057400"/>
          </a:xfrm>
          <a:prstGeom prst="rect">
            <a:avLst/>
          </a:prstGeom>
          <a:solidFill>
            <a:srgbClr val="2A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647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0EDE8"/>
                </a:solidFill>
                <a:latin typeface="Arial"/>
              </a:rPr>
              <a:t>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6479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DE8"/>
                </a:solidFill>
                <a:latin typeface="Arial"/>
              </a:rPr>
              <a:t>PubMed-backed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86000"/>
            <a:ext cx="3337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268"/>
                </a:solidFill>
                <a:latin typeface="Arial"/>
              </a:rPr>
              <a:t>Real-time evidence in every answer.
Structural advantage vs. generic AI.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600200"/>
            <a:ext cx="3703320" cy="2057400"/>
          </a:xfrm>
          <a:prstGeom prst="rect">
            <a:avLst/>
          </a:prstGeom>
          <a:solidFill>
            <a:srgbClr val="2A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7647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0EDE8"/>
                </a:solidFill>
                <a:latin typeface="Arial"/>
              </a:rPr>
              <a:t>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76479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DE8"/>
                </a:solidFill>
                <a:latin typeface="Arial"/>
              </a:rPr>
              <a:t>Curriculum depth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286000"/>
            <a:ext cx="3337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268"/>
                </a:solidFill>
                <a:latin typeface="Arial"/>
              </a:rPr>
              <a:t>82+ structured modules — years of work.
Not replicable by copy-paste.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75319" y="1600200"/>
            <a:ext cx="3703320" cy="2057400"/>
          </a:xfrm>
          <a:prstGeom prst="rect">
            <a:avLst/>
          </a:prstGeom>
          <a:solidFill>
            <a:srgbClr val="2A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199" y="17647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0EDE8"/>
                </a:solidFill>
                <a:latin typeface="Arial"/>
              </a:rPr>
              <a:t>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19" y="176479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DE8"/>
                </a:solidFill>
                <a:latin typeface="Arial"/>
              </a:rPr>
              <a:t>Multilingual at launch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199" y="2286000"/>
            <a:ext cx="3337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268"/>
                </a:solidFill>
                <a:latin typeface="Arial"/>
              </a:rPr>
              <a:t>7 languages from day one.
Competitors are English-only.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840480"/>
            <a:ext cx="3703320" cy="2057400"/>
          </a:xfrm>
          <a:prstGeom prst="rect">
            <a:avLst/>
          </a:prstGeom>
          <a:solidFill>
            <a:srgbClr val="2A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0050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0EDE8"/>
                </a:solidFill>
                <a:latin typeface="Arial"/>
              </a:rPr>
              <a:t>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00507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DE8"/>
                </a:solidFill>
                <a:latin typeface="Arial"/>
              </a:rPr>
              <a:t>SEO content flywheel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526280"/>
            <a:ext cx="3337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268"/>
                </a:solidFill>
                <a:latin typeface="Arial"/>
              </a:rPr>
              <a:t>Hundreds of medical articles drive organic traffic.
Compounding without paid 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3840480"/>
            <a:ext cx="3703320" cy="2057400"/>
          </a:xfrm>
          <a:prstGeom prst="rect">
            <a:avLst/>
          </a:prstGeom>
          <a:solidFill>
            <a:srgbClr val="2A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40050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0EDE8"/>
                </a:solidFill>
                <a:latin typeface="Arial"/>
              </a:rPr>
              <a:t>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00507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DE8"/>
                </a:solidFill>
                <a:latin typeface="Arial"/>
              </a:rPr>
              <a:t>Daily habit loop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526280"/>
            <a:ext cx="3337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268"/>
                </a:solidFill>
                <a:latin typeface="Arial"/>
              </a:rPr>
              <a:t>Spaced repetition + AI = users return daily.
Built-in retention mechanism.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75319" y="3840480"/>
            <a:ext cx="3703320" cy="2057400"/>
          </a:xfrm>
          <a:prstGeom prst="rect">
            <a:avLst/>
          </a:prstGeom>
          <a:solidFill>
            <a:srgbClr val="2A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199" y="40050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0EDE8"/>
                </a:solidFill>
                <a:latin typeface="Arial"/>
              </a:rPr>
              <a:t>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19" y="400507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DE8"/>
                </a:solidFill>
                <a:latin typeface="Arial"/>
              </a:rPr>
              <a:t>Multi-role platform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199" y="4526280"/>
            <a:ext cx="3337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268"/>
                </a:solidFill>
                <a:latin typeface="Arial"/>
              </a:rPr>
              <a:t>Student · Resident · Doctor · Professor · Vet.
Enables institutional contracts.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EDE8"/>
                </a:solidFill>
                <a:latin typeface="Arial"/>
              </a:rPr>
              <a:t>Med</a:t>
            </a:r>
            <a:r>
              <a:rPr sz="1800" b="1">
                <a:solidFill>
                  <a:srgbClr val="E74C3C"/>
                </a:solidFill>
                <a:latin typeface="Arial"/>
              </a:rPr>
              <a:t>Mind</a:t>
            </a:r>
            <a:r>
              <a:rPr sz="1100" b="0">
                <a:solidFill>
                  <a:srgbClr val="7A7268"/>
                </a:solidFill>
                <a:latin typeface="Arial"/>
              </a:rPr>
              <a:t>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58368"/>
            <a:ext cx="11338560" cy="12700"/>
          </a:xfrm>
          <a:prstGeom prst="rect">
            <a:avLst/>
          </a:prstGeom>
          <a:solidFill>
            <a:srgbClr val="3D3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182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7268"/>
                </a:solidFill>
                <a:latin typeface="Arial"/>
              </a:rPr>
              <a:t>08 /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EDE8"/>
                </a:solidFill>
                <a:latin typeface="Arial"/>
              </a:rPr>
              <a:t>Three phases to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965960"/>
            <a:ext cx="11338560" cy="25400"/>
          </a:xfrm>
          <a:prstGeom prst="rect">
            <a:avLst/>
          </a:prstGeom>
          <a:solidFill>
            <a:srgbClr val="3D3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83080" y="1828800"/>
            <a:ext cx="274320" cy="2743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2331720"/>
            <a:ext cx="3703320" cy="4206240"/>
          </a:xfrm>
          <a:prstGeom prst="rect">
            <a:avLst/>
          </a:prstGeom>
          <a:solidFill>
            <a:srgbClr val="2A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2331720"/>
            <a:ext cx="3703320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4231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Arial"/>
              </a:rPr>
              <a:t>Phase 1  ·  Q2–Q3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889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EDE8"/>
                </a:solidFill>
                <a:latin typeface="Arial"/>
              </a:rPr>
              <a:t>Launch &amp;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918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268"/>
                </a:solidFill>
                <a:latin typeface="Arial"/>
              </a:rPr>
              <a:t>→  Production server 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95344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268"/>
                </a:solidFill>
                <a:latin typeface="Arial"/>
              </a:rPr>
              <a:t>→  500+ SEO medical articles 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49884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268"/>
                </a:solidFill>
                <a:latin typeface="Arial"/>
              </a:rPr>
              <a:t>→  YouTube channel with medical video content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10235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268"/>
                </a:solidFill>
                <a:latin typeface="Arial"/>
              </a:rPr>
              <a:t>→  App Store / Google Play listing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705856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268"/>
                </a:solidFill>
                <a:latin typeface="Arial"/>
              </a:rPr>
              <a:t>→  100 paying subscribers</a:t>
            </a:r>
          </a:p>
        </p:txBody>
      </p:sp>
      <p:sp>
        <p:nvSpPr>
          <p:cNvPr id="17" name="Oval 16"/>
          <p:cNvSpPr/>
          <p:nvPr/>
        </p:nvSpPr>
        <p:spPr>
          <a:xfrm>
            <a:off x="5715000" y="1828800"/>
            <a:ext cx="274320" cy="27432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2331720"/>
            <a:ext cx="3703320" cy="4206240"/>
          </a:xfrm>
          <a:prstGeom prst="rect">
            <a:avLst/>
          </a:prstGeom>
          <a:solidFill>
            <a:srgbClr val="2A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2331720"/>
            <a:ext cx="3703320" cy="6400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24231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980B9"/>
                </a:solidFill>
                <a:latin typeface="Arial"/>
              </a:rPr>
              <a:t>Phase 2  ·  Q4 2026–Q1 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7889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EDE8"/>
                </a:solidFill>
                <a:latin typeface="Arial"/>
              </a:rPr>
              <a:t>B2B &amp; Institutions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2918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268"/>
                </a:solidFill>
                <a:latin typeface="Arial"/>
              </a:rPr>
              <a:t>→  First university pilot (100–300 seats)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895344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268"/>
                </a:solidFill>
                <a:latin typeface="Arial"/>
              </a:rPr>
              <a:t>→  SCORM / LTI LMS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49884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268"/>
                </a:solidFill>
                <a:latin typeface="Arial"/>
              </a:rPr>
              <a:t>→  White-label offering for medical schools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510235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268"/>
                </a:solidFill>
                <a:latin typeface="Arial"/>
              </a:rPr>
              <a:t>→  CME / CPD credit integration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5705856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268"/>
                </a:solidFill>
                <a:latin typeface="Arial"/>
              </a:rPr>
              <a:t>→  1,000+ monthly active users</a:t>
            </a:r>
          </a:p>
        </p:txBody>
      </p:sp>
      <p:sp>
        <p:nvSpPr>
          <p:cNvPr id="27" name="Oval 26"/>
          <p:cNvSpPr/>
          <p:nvPr/>
        </p:nvSpPr>
        <p:spPr>
          <a:xfrm>
            <a:off x="9646919" y="1828800"/>
            <a:ext cx="274320" cy="2743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75319" y="2331720"/>
            <a:ext cx="3703320" cy="4206240"/>
          </a:xfrm>
          <a:prstGeom prst="rect">
            <a:avLst/>
          </a:prstGeom>
          <a:solidFill>
            <a:srgbClr val="2A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75319" y="2331720"/>
            <a:ext cx="3703320" cy="640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58199" y="24231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Arial"/>
              </a:rPr>
              <a:t>Phase 3  ·  2027+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199" y="27889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EDE8"/>
                </a:solidFill>
                <a:latin typeface="Arial"/>
              </a:rPr>
              <a:t>Scale &amp; 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199" y="32918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268"/>
                </a:solidFill>
                <a:latin typeface="Arial"/>
              </a:rPr>
              <a:t>→  Medical AI API for EHR / health-tech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199" y="3895344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268"/>
                </a:solidFill>
                <a:latin typeface="Arial"/>
              </a:rPr>
              <a:t>→  15+ languages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199" y="449884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268"/>
                </a:solidFill>
                <a:latin typeface="Arial"/>
              </a:rPr>
              <a:t>→  National medical board partnerships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199" y="510235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268"/>
                </a:solidFill>
                <a:latin typeface="Arial"/>
              </a:rPr>
              <a:t>→  Series A fundraise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199" y="5705856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268"/>
                </a:solidFill>
                <a:latin typeface="Arial"/>
              </a:rPr>
              <a:t>→  10,000 paying users B2C + B2B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EDE8"/>
                </a:solidFill>
                <a:latin typeface="Arial"/>
              </a:rPr>
              <a:t>Med</a:t>
            </a:r>
            <a:r>
              <a:rPr sz="1800" b="1">
                <a:solidFill>
                  <a:srgbClr val="E74C3C"/>
                </a:solidFill>
                <a:latin typeface="Arial"/>
              </a:rPr>
              <a:t>Mind</a:t>
            </a:r>
            <a:r>
              <a:rPr sz="1100" b="0">
                <a:solidFill>
                  <a:srgbClr val="7A7268"/>
                </a:solidFill>
                <a:latin typeface="Arial"/>
              </a:rPr>
              <a:t>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58368"/>
            <a:ext cx="11338560" cy="12700"/>
          </a:xfrm>
          <a:prstGeom prst="rect">
            <a:avLst/>
          </a:prstGeom>
          <a:solidFill>
            <a:srgbClr val="3D3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182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7268"/>
                </a:solidFill>
                <a:latin typeface="Arial"/>
              </a:rPr>
              <a:t>09 / 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EDE8"/>
                </a:solidFill>
                <a:latin typeface="Arial"/>
              </a:rPr>
              <a:t>Pre-seed round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00200"/>
            <a:ext cx="5303520" cy="4846320"/>
          </a:xfrm>
          <a:prstGeom prst="rect">
            <a:avLst/>
          </a:prstGeom>
          <a:solidFill>
            <a:srgbClr val="2A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5303520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37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A7268"/>
                </a:solidFill>
                <a:latin typeface="Arial"/>
              </a:rPr>
              <a:t>Raising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74C3C"/>
                </a:solidFill>
                <a:latin typeface="Arial"/>
              </a:rPr>
              <a:t>$150K – $300K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34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7268"/>
                </a:solidFill>
                <a:latin typeface="Arial"/>
              </a:rPr>
              <a:t>Pre-seed · SAFE / Convertible note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37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EDE8"/>
                </a:solidFill>
                <a:latin typeface="Arial"/>
              </a:rPr>
              <a:t>Use of funds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822191"/>
            <a:ext cx="502920" cy="2926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794759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749039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8B0A4"/>
                </a:solidFill>
                <a:latin typeface="Arial"/>
              </a:rPr>
              <a:t>Infrastructure &amp; DevOps — production servers, CDN, monitoring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502920" cy="2926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297679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4251959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8B0A4"/>
                </a:solidFill>
                <a:latin typeface="Arial"/>
              </a:rPr>
              <a:t>Marketing launch — SEO content, paid acquisition, App Store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828031"/>
            <a:ext cx="502920" cy="2926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800599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4754879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8B0A4"/>
                </a:solidFill>
                <a:latin typeface="Arial"/>
              </a:rPr>
              <a:t>Product development — mobile app, API, new specialties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5330952"/>
            <a:ext cx="502920" cy="2926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30352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52578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8B0A4"/>
                </a:solidFill>
                <a:latin typeface="Arial"/>
              </a:rPr>
              <a:t>Legal &amp; operations — company formation, contracts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1600200"/>
            <a:ext cx="5486400" cy="4846320"/>
          </a:xfrm>
          <a:prstGeom prst="rect">
            <a:avLst/>
          </a:prstGeom>
          <a:solidFill>
            <a:srgbClr val="2A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1600200"/>
            <a:ext cx="5486400" cy="640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17373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EDE8"/>
                </a:solidFill>
                <a:latin typeface="Arial"/>
              </a:rPr>
              <a:t>Get in touch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286000"/>
            <a:ext cx="5120640" cy="68580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23317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268"/>
                </a:solidFill>
                <a:latin typeface="Arial"/>
              </a:rPr>
              <a:t>Investment enquiries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26060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Arial"/>
              </a:rPr>
              <a:t>invest@medmind.pro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108960"/>
            <a:ext cx="5120640" cy="68580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31546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268"/>
                </a:solidFill>
                <a:latin typeface="Arial"/>
              </a:rPr>
              <a:t>Partnership / B2B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34290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Arial"/>
              </a:rPr>
              <a:t>partners@medmind.pro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931920"/>
            <a:ext cx="5120640" cy="68580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39776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268"/>
                </a:solidFill>
                <a:latin typeface="Arial"/>
              </a:rPr>
              <a:t>Website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42519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Arial"/>
              </a:rPr>
              <a:t>medmind.pro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754880"/>
            <a:ext cx="5120640" cy="68580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48006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268"/>
                </a:solidFill>
                <a:latin typeface="Arial"/>
              </a:rPr>
              <a:t>Try the product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50749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Arial"/>
              </a:rPr>
              <a:t>medmind.pro/register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5778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7268"/>
                </a:solidFill>
                <a:latin typeface="Arial"/>
              </a:rPr>
              <a:t>The platform is live. All we need is fuel.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0EDE8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8B0A4"/>
                </a:solidFill>
                <a:latin typeface="Arial"/>
              </a:rPr>
              <a:t>MedMind AI — Evidence-based learning for every clinician, everywhere.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74C3C"/>
                </a:solidFill>
                <a:latin typeface="Arial"/>
              </a:rPr>
              <a:t>invest@medmind.pro  ·  medmind.pro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6035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7268"/>
                </a:solidFill>
                <a:latin typeface="Arial"/>
              </a:rPr>
              <a:t>Confidential — For discussion purposes only. Not a securities offering.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429768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0EDE8"/>
                </a:solidFill>
                <a:latin typeface="Arial"/>
              </a:rPr>
              <a:t>Med</a:t>
            </a:r>
            <a:r>
              <a:rPr sz="3200" b="1">
                <a:solidFill>
                  <a:srgbClr val="E74C3C"/>
                </a:solidFill>
                <a:latin typeface="Arial"/>
              </a:rPr>
              <a:t>Mind</a:t>
            </a:r>
            <a:r>
              <a:rPr sz="1800">
                <a:solidFill>
                  <a:srgbClr val="7A7268"/>
                </a:solidFill>
                <a:latin typeface="Arial"/>
              </a:rPr>
              <a:t>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